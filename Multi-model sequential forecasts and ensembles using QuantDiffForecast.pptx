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18387-E5BE-DAA2-9115-314C3FC8D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38C4E-2E49-D8D4-D500-247D18502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7A59C-8B6B-7B12-EDAD-C3B23FF3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D96A-5139-4DE4-8E88-26EA266AFB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88B22-CB50-3D79-030C-13B4433E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E96EC-F185-2EF0-EF0B-EA295E96D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78B4-4CEE-4A92-8B2C-2C46209CC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84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5B47E-3E4A-BEE9-8C3C-B7B5780C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61405-B04E-F3A7-8F88-B533BB051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E06CB-E66D-673D-4A76-E8D1A43EF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D96A-5139-4DE4-8E88-26EA266AFB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710AE-1609-4F0B-DCD8-46E81F0A4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E6F09-B363-0872-3B21-FEE41276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78B4-4CEE-4A92-8B2C-2C46209CC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1DD6A-F1C7-0E25-0D32-65F26502D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DF767-7BE5-E769-F2B8-6704E062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1FDB3-C24B-B148-AC3C-6B7F93A4C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D96A-5139-4DE4-8E88-26EA266AFB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64EEA-8926-3299-4C42-C1BD9F8C9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793EF-4798-EFC4-88D2-B4D1BFCB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78B4-4CEE-4A92-8B2C-2C46209CC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65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627B-C658-17E8-C157-263E5CD6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1D057-4125-6053-5CE6-8CD3D355E0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7994F-8CF1-C37A-B3AE-C52990C05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B99C9-6306-CB88-5794-3DC30833A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D96A-5139-4DE4-8E88-26EA266AFB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664A3-3802-C2FA-CDF5-7D8A5E210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718DA-B8D4-A725-2DAA-B2959294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78B4-4CEE-4A92-8B2C-2C46209CC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55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B3059-A77F-FD89-5AF1-7A71759A3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7E3C8-EC1A-F0F4-B635-8EC8C4339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00DDDD-1FB6-CF16-E355-42C1D100E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2B1809-FE97-CC44-9BD8-4F50F3035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D39D95-784A-6E29-DCE9-CD85084612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1CFEBD-8C0A-932E-6D8F-7048C64CB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D96A-5139-4DE4-8E88-26EA266AFB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D1C48-018A-1ACF-0955-56F472C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D10D64-273E-5C15-9908-E44951222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78B4-4CEE-4A92-8B2C-2C46209CC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75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A485D-5405-29EE-799F-3956546E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296FE-47AA-0C53-1C87-7242DD923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D96A-5139-4DE4-8E88-26EA266AFB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6366A5-63C1-C7C4-EE4D-CD26FE75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612BB-3965-7065-2396-C6170BE4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78B4-4CEE-4A92-8B2C-2C46209CC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82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D0FD83-69D1-E858-95D8-5FBF2104C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D96A-5139-4DE4-8E88-26EA266AFB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727B0-33B9-FE5E-45A0-32E57AC26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63841-5931-A51F-BC0C-9EA813FC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78B4-4CEE-4A92-8B2C-2C46209CC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71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E3E4-7E10-46C5-2B7B-3BBE717F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A2C4A-84BE-FC7C-CE65-F828847EB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E9DC91-4E09-0D32-52F0-8B193BF48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5A234-CCFF-C9CA-C985-7EE045FEB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D96A-5139-4DE4-8E88-26EA266AFB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9AFA0-42F0-99E7-6666-2BA1C57D6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738E1-F030-B69B-4398-F1964EF05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78B4-4CEE-4A92-8B2C-2C46209CC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37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02DED-C66B-8D86-CAA6-1C3A94AF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705E71-6C46-83EE-F070-C90B7D695C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0F8B8-25F5-3362-3C06-06B30DC0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AFCC6-7B24-9AB9-51A1-82D582222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D96A-5139-4DE4-8E88-26EA266AFB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8ADF14-C046-56A1-8AC3-89CA1F4C1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E45CE-C2D5-179A-A1A6-48FF24EC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78B4-4CEE-4A92-8B2C-2C46209CC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032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1CB40-D25E-21BB-2B4E-2B58AC383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54F19-5153-20DA-F226-DBE93BDF9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2B097-487D-8B67-5A3C-E0C4E7BE1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D96A-5139-4DE4-8E88-26EA266AFB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E5107-7A44-D0F9-921D-15D282ADD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CC75D-51B5-8FAE-CE01-A0E4339E4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78B4-4CEE-4A92-8B2C-2C46209CC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30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7A09B2-4E3D-FD02-9A12-B39130FA3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83955-B213-528F-D1C9-98389A128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3E3AC-8639-32E2-B0A3-48FCA4E23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D96A-5139-4DE4-8E88-26EA266AFB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08F3C-0C48-6B0E-AB1F-E85DA1973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729E3-40BF-3677-E45A-43BCA1A5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78B4-4CEE-4A92-8B2C-2C46209CC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66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EDD310-8882-73DC-D4F0-6FF990606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8C84D-C869-91F5-B0B7-949195046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F5FB6-856F-49D1-26FA-CD6CAE1D9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DD96A-5139-4DE4-8E88-26EA266AFB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545E7-2D9E-29A9-FE96-E26AFD02F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D5E37-2035-5D86-53FA-E2F846D77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B78B4-4CEE-4A92-8B2C-2C46209CC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03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ithub.com/rajsubediresearch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rajsubediresearch/JCF-project-8280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rajsubediresearch/JCF-project-8280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jsubediresearch/JCF-project-8280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87FD2-E8D7-B4C9-519D-6BC974CC0F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Multi-model sequential forecasts and ensembles using </a:t>
            </a:r>
            <a:r>
              <a:rPr lang="en-US" dirty="0" err="1"/>
              <a:t>QuantDiffForecast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4092D8-7633-FB30-5A9D-AC04E1F51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2144"/>
            <a:ext cx="9144000" cy="65565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Raj Kumar Subedi</a:t>
            </a:r>
          </a:p>
          <a:p>
            <a:r>
              <a:rPr lang="en-US" dirty="0">
                <a:hlinkClick r:id="rId2"/>
              </a:rPr>
              <a:t>www.github.com/rajsubediresearch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625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A57D-0277-4DDA-7A72-DF632751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0726"/>
          </a:xfrm>
        </p:spPr>
        <p:txBody>
          <a:bodyPr/>
          <a:lstStyle/>
          <a:p>
            <a:r>
              <a:rPr lang="en-US" b="1" dirty="0"/>
              <a:t>What we will cover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56B60-BF84-99AB-5352-672187F99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more than one model</a:t>
            </a:r>
          </a:p>
          <a:p>
            <a:r>
              <a:rPr lang="en-US" dirty="0"/>
              <a:t>Revisiting </a:t>
            </a:r>
            <a:r>
              <a:rPr lang="en-US" dirty="0" err="1"/>
              <a:t>QuantDiffForecast</a:t>
            </a:r>
            <a:r>
              <a:rPr lang="en-US" dirty="0"/>
              <a:t> toolbox</a:t>
            </a:r>
          </a:p>
          <a:p>
            <a:r>
              <a:rPr lang="en-US" dirty="0"/>
              <a:t>Sequential windows forecasting</a:t>
            </a:r>
          </a:p>
          <a:p>
            <a:r>
              <a:rPr lang="en-US" dirty="0"/>
              <a:t>Model performance metrices</a:t>
            </a:r>
          </a:p>
          <a:p>
            <a:r>
              <a:rPr lang="en-US" dirty="0"/>
              <a:t>The ensemble and the linear pool</a:t>
            </a:r>
          </a:p>
          <a:p>
            <a:r>
              <a:rPr lang="en-US" dirty="0"/>
              <a:t>Calibration only weights and it’s blind spot</a:t>
            </a:r>
          </a:p>
          <a:p>
            <a:r>
              <a:rPr lang="en-US" dirty="0"/>
              <a:t>Concept of Joint-Calibration-Forecast (JCF) ensembles and the role of λ</a:t>
            </a:r>
          </a:p>
        </p:txBody>
      </p:sp>
    </p:spTree>
    <p:extLst>
      <p:ext uri="{BB962C8B-B14F-4D97-AF65-F5344CB8AC3E}">
        <p14:creationId xmlns:p14="http://schemas.microsoft.com/office/powerpoint/2010/main" val="2664587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54253-8935-4273-3854-B69A57544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898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Prerequisites and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81394-C66A-61C6-EFD6-38353DF48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579"/>
            <a:ext cx="10787744" cy="63622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Download the repo </a:t>
            </a:r>
            <a:r>
              <a:rPr lang="en-US" dirty="0">
                <a:hlinkClick r:id="rId2"/>
              </a:rPr>
              <a:t>https://github.com/rajsubediresearch/JCF-project-8280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E58B1B-2850-BDBF-643D-658F0BC84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739" y="1902574"/>
            <a:ext cx="7537729" cy="435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3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0320-DA96-DF6E-1EFF-C601CC620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109"/>
            <a:ext cx="10515600" cy="830629"/>
          </a:xfrm>
        </p:spPr>
        <p:txBody>
          <a:bodyPr/>
          <a:lstStyle/>
          <a:p>
            <a:r>
              <a:rPr lang="en-US" b="1" dirty="0"/>
              <a:t>Why more than one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62012-EBDF-3B76-A159-09449E66A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966" y="1690688"/>
            <a:ext cx="3094893" cy="43513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The shape of the curve changes over time during an outbreak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due to </a:t>
            </a:r>
          </a:p>
          <a:p>
            <a:pPr lvl="1"/>
            <a:r>
              <a:rPr lang="en-US" dirty="0"/>
              <a:t>depleting </a:t>
            </a:r>
            <a:r>
              <a:rPr lang="en-US" dirty="0" err="1"/>
              <a:t>susceptibles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interventions, </a:t>
            </a:r>
          </a:p>
          <a:p>
            <a:pPr lvl="1"/>
            <a:r>
              <a:rPr lang="en-US" dirty="0" err="1"/>
              <a:t>behaviour</a:t>
            </a:r>
            <a:r>
              <a:rPr lang="en-US" dirty="0"/>
              <a:t> change, </a:t>
            </a:r>
          </a:p>
          <a:p>
            <a:pPr lvl="1"/>
            <a:r>
              <a:rPr lang="en-US" dirty="0"/>
              <a:t>spread into new subpopulations, </a:t>
            </a:r>
          </a:p>
          <a:p>
            <a:pPr lvl="1"/>
            <a:r>
              <a:rPr lang="en-US" dirty="0"/>
              <a:t>and changes in reporting </a:t>
            </a:r>
          </a:p>
          <a:p>
            <a:r>
              <a:rPr lang="en-US" dirty="0">
                <a:solidFill>
                  <a:srgbClr val="C00000"/>
                </a:solidFill>
              </a:rPr>
              <a:t>The model that fits best early is rarely the one that fits best later !!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3C6200-750C-55F3-48CF-4B67022E90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54" t="12802" r="9731" b="-1"/>
          <a:stretch>
            <a:fillRect/>
          </a:stretch>
        </p:blipFill>
        <p:spPr>
          <a:xfrm>
            <a:off x="4027295" y="1449527"/>
            <a:ext cx="6595069" cy="514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374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8AD2B-1CAB-86C3-3EAF-88B1297AD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545"/>
            <a:ext cx="10515600" cy="63971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Revisiting </a:t>
            </a:r>
            <a:r>
              <a:rPr lang="en-US" b="1" dirty="0" err="1"/>
              <a:t>QuantDiffForecast</a:t>
            </a:r>
            <a:r>
              <a:rPr lang="en-US" b="1" dirty="0"/>
              <a:t> toolbox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A44C8B-7B84-A8BE-F5ED-43743B80A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03" y="1061741"/>
            <a:ext cx="10430497" cy="55517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2942A9A-C539-BCE9-D317-F1831F96BD27}"/>
              </a:ext>
            </a:extLst>
          </p:cNvPr>
          <p:cNvSpPr/>
          <p:nvPr/>
        </p:nvSpPr>
        <p:spPr>
          <a:xfrm>
            <a:off x="8631534" y="3245186"/>
            <a:ext cx="552659" cy="231140"/>
          </a:xfrm>
          <a:prstGeom prst="ellipse">
            <a:avLst/>
          </a:prstGeom>
          <a:solidFill>
            <a:schemeClr val="bg1">
              <a:lumMod val="95000"/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54D36DD0-5DDA-6850-9C05-361BD5C52F20}"/>
              </a:ext>
            </a:extLst>
          </p:cNvPr>
          <p:cNvSpPr/>
          <p:nvPr/>
        </p:nvSpPr>
        <p:spPr>
          <a:xfrm>
            <a:off x="9184193" y="3313471"/>
            <a:ext cx="657897" cy="115529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EB385-62F0-FC13-98FB-EB1B9FC0088C}"/>
              </a:ext>
            </a:extLst>
          </p:cNvPr>
          <p:cNvSpPr txBox="1"/>
          <p:nvPr/>
        </p:nvSpPr>
        <p:spPr>
          <a:xfrm>
            <a:off x="9903110" y="3444870"/>
            <a:ext cx="1521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folder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CCADCCE-7DBB-5DD3-51A5-DA7C7B21D375}"/>
              </a:ext>
            </a:extLst>
          </p:cNvPr>
          <p:cNvSpPr/>
          <p:nvPr/>
        </p:nvSpPr>
        <p:spPr>
          <a:xfrm>
            <a:off x="8626616" y="3525407"/>
            <a:ext cx="552659" cy="208259"/>
          </a:xfrm>
          <a:prstGeom prst="ellipse">
            <a:avLst/>
          </a:prstGeom>
          <a:solidFill>
            <a:schemeClr val="bg1">
              <a:lumMod val="95000"/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DBB340DB-1EF1-4C41-5274-403F8CFB1569}"/>
              </a:ext>
            </a:extLst>
          </p:cNvPr>
          <p:cNvSpPr/>
          <p:nvPr/>
        </p:nvSpPr>
        <p:spPr>
          <a:xfrm>
            <a:off x="9184193" y="3562900"/>
            <a:ext cx="657897" cy="115529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0D3FD5-5C8A-5D03-805B-9895AF6247E3}"/>
              </a:ext>
            </a:extLst>
          </p:cNvPr>
          <p:cNvSpPr txBox="1"/>
          <p:nvPr/>
        </p:nvSpPr>
        <p:spPr>
          <a:xfrm>
            <a:off x="9842090" y="3171461"/>
            <a:ext cx="174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file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5F8093-477F-562B-F686-07E71646ADA6}"/>
              </a:ext>
            </a:extLst>
          </p:cNvPr>
          <p:cNvSpPr txBox="1"/>
          <p:nvPr/>
        </p:nvSpPr>
        <p:spPr>
          <a:xfrm>
            <a:off x="8190272" y="4238434"/>
            <a:ext cx="36182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Phenomenological models in the toolbox:</a:t>
            </a:r>
          </a:p>
          <a:p>
            <a:r>
              <a:rPr lang="en-US" sz="1400" dirty="0">
                <a:solidFill>
                  <a:srgbClr val="FF0000"/>
                </a:solidFill>
              </a:rPr>
              <a:t>Exponential Model (</a:t>
            </a:r>
            <a:r>
              <a:rPr 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EXP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</a:p>
          <a:p>
            <a:r>
              <a:rPr lang="en-US" sz="1400" dirty="0">
                <a:solidFill>
                  <a:srgbClr val="FF0000"/>
                </a:solidFill>
              </a:rPr>
              <a:t>Generalized Growth Model (</a:t>
            </a:r>
            <a:r>
              <a:rPr 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GGM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</a:p>
          <a:p>
            <a:r>
              <a:rPr lang="en-US" sz="1400" dirty="0">
                <a:solidFill>
                  <a:srgbClr val="FF0000"/>
                </a:solidFill>
              </a:rPr>
              <a:t>Logistic Growth Model </a:t>
            </a:r>
            <a:r>
              <a:rPr 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(LM)</a:t>
            </a:r>
          </a:p>
          <a:p>
            <a:r>
              <a:rPr lang="en-US" sz="1400" dirty="0">
                <a:solidFill>
                  <a:srgbClr val="FF0000"/>
                </a:solidFill>
              </a:rPr>
              <a:t>Generalized Logistic Growth Model (</a:t>
            </a:r>
            <a:r>
              <a:rPr 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GLM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</a:p>
          <a:p>
            <a:r>
              <a:rPr lang="en-US" sz="1400" dirty="0">
                <a:solidFill>
                  <a:srgbClr val="FF0000"/>
                </a:solidFill>
              </a:rPr>
              <a:t>Richards Model (</a:t>
            </a:r>
            <a:r>
              <a:rPr 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RICH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</a:p>
          <a:p>
            <a:r>
              <a:rPr lang="en-US" sz="1400" dirty="0">
                <a:solidFill>
                  <a:srgbClr val="FF0000"/>
                </a:solidFill>
              </a:rPr>
              <a:t>Gompertz Model (</a:t>
            </a:r>
            <a:r>
              <a:rPr 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GOM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</a:p>
          <a:p>
            <a:r>
              <a:rPr lang="en-US" sz="1400" dirty="0">
                <a:solidFill>
                  <a:srgbClr val="FF0000"/>
                </a:solidFill>
              </a:rPr>
              <a:t>Generalized Richards Model (</a:t>
            </a:r>
            <a:r>
              <a:rPr 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GRM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79723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1F075-7A59-9CB6-1B29-EAA216B1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9443"/>
          </a:xfrm>
        </p:spPr>
        <p:txBody>
          <a:bodyPr>
            <a:noAutofit/>
          </a:bodyPr>
          <a:lstStyle/>
          <a:p>
            <a:r>
              <a:rPr lang="en-US" sz="2400" b="1" dirty="0"/>
              <a:t>Sequential windows forecasting (e.g. shifting windows by forecast horizon)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41F86F-CE59-7683-42A2-BC254B1CF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19" y="1388077"/>
            <a:ext cx="10943268" cy="42828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D4290D-2D59-E114-9901-9FFEC43AF99D}"/>
              </a:ext>
            </a:extLst>
          </p:cNvPr>
          <p:cNvSpPr txBox="1"/>
          <p:nvPr/>
        </p:nvSpPr>
        <p:spPr>
          <a:xfrm>
            <a:off x="3846573" y="2920181"/>
            <a:ext cx="82569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Examples:</a:t>
            </a:r>
          </a:p>
          <a:p>
            <a:r>
              <a:rPr lang="en-US" sz="1600" dirty="0" err="1">
                <a:solidFill>
                  <a:srgbClr val="FF0000"/>
                </a:solidFill>
              </a:rPr>
              <a:t>Run_Forecasting_ODEModel</a:t>
            </a:r>
            <a:r>
              <a:rPr lang="en-US" sz="1600" dirty="0">
                <a:solidFill>
                  <a:srgbClr val="FF0000"/>
                </a:solidFill>
              </a:rPr>
              <a:t>(@options_forecast_GLM_ebola_scenario1,1,1,20,4)</a:t>
            </a:r>
          </a:p>
          <a:p>
            <a:r>
              <a:rPr lang="en-US" sz="1600" dirty="0" err="1">
                <a:solidFill>
                  <a:srgbClr val="FF0000"/>
                </a:solidFill>
              </a:rPr>
              <a:t>Run_Forecasting_ODEModel</a:t>
            </a:r>
            <a:r>
              <a:rPr lang="en-US" sz="1600" dirty="0">
                <a:solidFill>
                  <a:srgbClr val="FF0000"/>
                </a:solidFill>
              </a:rPr>
              <a:t>(@options_forecast_GLM_ebola_scenario1,5,5,20,4)</a:t>
            </a:r>
          </a:p>
          <a:p>
            <a:r>
              <a:rPr lang="en-US" sz="1600" dirty="0" err="1">
                <a:solidFill>
                  <a:srgbClr val="FF0000"/>
                </a:solidFill>
              </a:rPr>
              <a:t>Run_Forecasting_ODEModel</a:t>
            </a:r>
            <a:r>
              <a:rPr lang="en-US" sz="1600" dirty="0">
                <a:solidFill>
                  <a:srgbClr val="FF0000"/>
                </a:solidFill>
              </a:rPr>
              <a:t>(@options_forecast_GLM_ebola_scenario1,9,9,20,4)</a:t>
            </a:r>
          </a:p>
          <a:p>
            <a:r>
              <a:rPr lang="en-US" sz="1600" dirty="0" err="1">
                <a:solidFill>
                  <a:srgbClr val="FF0000"/>
                </a:solidFill>
              </a:rPr>
              <a:t>Run_Forecasting_ODEModel</a:t>
            </a:r>
            <a:r>
              <a:rPr lang="en-US" sz="1600" dirty="0">
                <a:solidFill>
                  <a:srgbClr val="FF0000"/>
                </a:solidFill>
              </a:rPr>
              <a:t>(@options_forecast_GLM_ebola_scenario1,13,13,20,4)</a:t>
            </a:r>
          </a:p>
          <a:p>
            <a:r>
              <a:rPr lang="en-US" sz="1600" dirty="0" err="1">
                <a:solidFill>
                  <a:srgbClr val="FF0000"/>
                </a:solidFill>
              </a:rPr>
              <a:t>Run_Forecasting_ODEModel</a:t>
            </a:r>
            <a:r>
              <a:rPr lang="en-US" sz="1600" dirty="0">
                <a:solidFill>
                  <a:srgbClr val="FF0000"/>
                </a:solidFill>
              </a:rPr>
              <a:t>(@options_forecast_GLM_ebola_scenario1,17,17,20,4)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72485D-7CB8-0E8F-E244-7483EF9AC9CF}"/>
              </a:ext>
            </a:extLst>
          </p:cNvPr>
          <p:cNvSpPr txBox="1"/>
          <p:nvPr/>
        </p:nvSpPr>
        <p:spPr>
          <a:xfrm>
            <a:off x="3713561" y="4650184"/>
            <a:ext cx="7640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Instead of running the sequential forecasting one by one, we can make a wrapper file and automate the forecasting process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D404FC-C18B-93F9-F0D8-496094FB1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609" y="5412266"/>
            <a:ext cx="6035563" cy="891617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BAE2B413-2656-3BAA-F813-69C36A9ADCB6}"/>
              </a:ext>
            </a:extLst>
          </p:cNvPr>
          <p:cNvSpPr/>
          <p:nvPr/>
        </p:nvSpPr>
        <p:spPr>
          <a:xfrm>
            <a:off x="4343401" y="5342693"/>
            <a:ext cx="2146852" cy="1177377"/>
          </a:xfrm>
          <a:prstGeom prst="ellipse">
            <a:avLst/>
          </a:prstGeom>
          <a:solidFill>
            <a:srgbClr val="C00000">
              <a:alpha val="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272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9F6E0-7981-AE07-57BA-619BA5AB4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6DAF9-0AB4-144E-503C-EB482D3A6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075" y="1366343"/>
            <a:ext cx="10515600" cy="809297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Calibration metrics</a:t>
            </a:r>
          </a:p>
          <a:p>
            <a:r>
              <a:rPr lang="en-US" dirty="0">
                <a:solidFill>
                  <a:srgbClr val="FF0000"/>
                </a:solidFill>
              </a:rPr>
              <a:t>Forecast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45AFF0-8AE2-B7F7-05E8-3EC849B08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11" y="2175641"/>
            <a:ext cx="11109434" cy="448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32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04DF4-2847-4209-6126-3471878DD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ensemble and the linear pool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50B70-0C7D-8DD1-E92C-253E9EBC9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each model has produced a predictive distribution for each future week, we combine them. </a:t>
            </a:r>
          </a:p>
          <a:p>
            <a:endParaRPr lang="en-US" dirty="0"/>
          </a:p>
          <a:p>
            <a:r>
              <a:rPr lang="en-US" dirty="0"/>
              <a:t>We use linear pool approach (see </a:t>
            </a:r>
            <a:r>
              <a:rPr lang="en-US" dirty="0" err="1">
                <a:solidFill>
                  <a:srgbClr val="FF0000"/>
                </a:solidFill>
              </a:rPr>
              <a:t>getensemble_linearpool_from_curves.m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for details)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644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01D67-0A09-2CBB-31B0-693CB67F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Calibration-only weighting, and its blind spot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3734C-62F1-12BB-DE66-33BC05362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common practice (and is reasonable). However: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Calibration WIS is in-sample. </a:t>
            </a:r>
          </a:p>
          <a:p>
            <a:pPr lvl="1"/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It scores the model on data the model has already seen and has been tuned to.</a:t>
            </a:r>
          </a:p>
          <a:p>
            <a:pPr lvl="1"/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Over-fitting models might not forecast well</a:t>
            </a:r>
          </a:p>
        </p:txBody>
      </p:sp>
    </p:spTree>
    <p:extLst>
      <p:ext uri="{BB962C8B-B14F-4D97-AF65-F5344CB8AC3E}">
        <p14:creationId xmlns:p14="http://schemas.microsoft.com/office/powerpoint/2010/main" val="1943807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B6C67-A1C1-E6BE-8CC2-6C6BCDF38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JCF ensembles and the role of 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3A6BD-182B-48F1-5C94-63818067A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 each model in each window, we form a score that is a blend of two numbers: lambda times the current window’s calibration WIS, plus one minus lambda times the previous window’s forecast WIS. </a:t>
            </a:r>
          </a:p>
          <a:p>
            <a:r>
              <a:rPr lang="en-US" dirty="0"/>
              <a:t>Then, the weight is one over that score, normalized.</a:t>
            </a:r>
          </a:p>
          <a:p>
            <a:r>
              <a:rPr lang="en-US" dirty="0">
                <a:solidFill>
                  <a:srgbClr val="FF0000"/>
                </a:solidFill>
              </a:rPr>
              <a:t>See details at </a:t>
            </a:r>
            <a:r>
              <a:rPr lang="en-US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https://github.com/rajsubediresearch/JCF-project-8280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81ADE7-8F36-26F9-3B3B-9D7FDBC38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78166" y="1825625"/>
            <a:ext cx="9045724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74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76D81-F9D7-9C61-8064-4BC6121B8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5EBED-413A-1233-1C5B-4FDDCEAF9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Copy the files from the repository </a:t>
            </a:r>
            <a:r>
              <a:rPr lang="en-US" dirty="0">
                <a:hlinkClick r:id="rId2"/>
              </a:rPr>
              <a:t>https://github.com/rajsubediresearch/JCF-project-8280</a:t>
            </a:r>
            <a:r>
              <a:rPr lang="en-US" dirty="0"/>
              <a:t>  folder to your </a:t>
            </a:r>
            <a:r>
              <a:rPr lang="en-US" dirty="0" err="1"/>
              <a:t>QuantDiffForecast</a:t>
            </a:r>
            <a:r>
              <a:rPr lang="en-US" dirty="0"/>
              <a:t> toolbox including the datasets. You don’t have to replace the existing files.</a:t>
            </a:r>
          </a:p>
          <a:p>
            <a:r>
              <a:rPr lang="en-US" dirty="0"/>
              <a:t>Run these in order:</a:t>
            </a:r>
          </a:p>
          <a:p>
            <a:pPr lvl="1"/>
            <a:r>
              <a:rPr lang="it-IT" dirty="0">
                <a:solidFill>
                  <a:srgbClr val="FF0000"/>
                </a:solidFill>
              </a:rPr>
              <a:t>batch_GLM_ebola_scenario1</a:t>
            </a:r>
          </a:p>
          <a:p>
            <a:pPr lvl="1"/>
            <a:r>
              <a:rPr lang="it-IT" dirty="0">
                <a:solidFill>
                  <a:srgbClr val="FF0000"/>
                </a:solidFill>
              </a:rPr>
              <a:t>batch_GOM_ebola_scenario1</a:t>
            </a:r>
          </a:p>
          <a:p>
            <a:pPr lvl="1"/>
            <a:r>
              <a:rPr lang="it-IT" dirty="0">
                <a:solidFill>
                  <a:srgbClr val="FF0000"/>
                </a:solidFill>
              </a:rPr>
              <a:t>batch_RICH_ebola_scenario1</a:t>
            </a:r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collect_metrics_simple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create_ensemble_simple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plot_model_fit_simple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plot_forecasts_simple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run_jcf_sweep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compare_ensembles_jcf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plot_forecasts_jcf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723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E4645-7701-C0E3-62CE-D78D9C81F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Optional (making editable plots)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BED35-BE65-9637-4615-6C45E9D53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%Using built in plot editor of </a:t>
            </a:r>
            <a:r>
              <a:rPr lang="en-US" dirty="0" err="1"/>
              <a:t>matlab</a:t>
            </a:r>
            <a:r>
              <a:rPr lang="en-US" dirty="0"/>
              <a:t> to edit the .fig files</a:t>
            </a:r>
          </a:p>
          <a:p>
            <a:pPr marL="0" indent="0">
              <a:buNone/>
            </a:pPr>
            <a:r>
              <a:rPr lang="en-US" dirty="0" err="1"/>
              <a:t>fig_files</a:t>
            </a:r>
            <a:r>
              <a:rPr lang="en-US" dirty="0"/>
              <a:t> = </a:t>
            </a:r>
            <a:r>
              <a:rPr lang="en-US" dirty="0" err="1"/>
              <a:t>dir</a:t>
            </a:r>
            <a:r>
              <a:rPr lang="en-US" dirty="0"/>
              <a:t>('</a:t>
            </a:r>
            <a:r>
              <a:rPr lang="en-US" dirty="0" err="1"/>
              <a:t>foldername</a:t>
            </a:r>
            <a:r>
              <a:rPr lang="en-US" dirty="0"/>
              <a:t>/*.fig');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1:length(</a:t>
            </a:r>
            <a:r>
              <a:rPr lang="en-US" dirty="0" err="1"/>
              <a:t>fig_files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filepath</a:t>
            </a:r>
            <a:r>
              <a:rPr lang="en-US" dirty="0"/>
              <a:t> = </a:t>
            </a:r>
            <a:r>
              <a:rPr lang="en-US" dirty="0" err="1"/>
              <a:t>fullfile</a:t>
            </a:r>
            <a:r>
              <a:rPr lang="en-US" dirty="0"/>
              <a:t>(</a:t>
            </a:r>
            <a:r>
              <a:rPr lang="en-US" dirty="0" err="1"/>
              <a:t>fig_files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).folder, </a:t>
            </a:r>
            <a:r>
              <a:rPr lang="en-US" dirty="0" err="1"/>
              <a:t>fig_files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).name);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fig = </a:t>
            </a:r>
            <a:r>
              <a:rPr lang="en-US" dirty="0" err="1"/>
              <a:t>openfig</a:t>
            </a:r>
            <a:r>
              <a:rPr lang="en-US" dirty="0"/>
              <a:t>(</a:t>
            </a:r>
            <a:r>
              <a:rPr lang="en-US" dirty="0" err="1"/>
              <a:t>filepath</a:t>
            </a:r>
            <a:r>
              <a:rPr lang="en-US" dirty="0"/>
              <a:t>, 'invisible');</a:t>
            </a:r>
          </a:p>
          <a:p>
            <a:pPr marL="0" indent="0">
              <a:buNone/>
            </a:pPr>
            <a:r>
              <a:rPr lang="en-US" dirty="0"/>
              <a:t>    set(fig, 'Visible', 'on');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drawnow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saveas</a:t>
            </a:r>
            <a:r>
              <a:rPr lang="en-US" dirty="0"/>
              <a:t>(fig, </a:t>
            </a:r>
            <a:r>
              <a:rPr lang="en-US" dirty="0" err="1"/>
              <a:t>filepath</a:t>
            </a:r>
            <a:r>
              <a:rPr lang="en-US" dirty="0"/>
              <a:t>);  % Overwrite with corrected visibility</a:t>
            </a:r>
          </a:p>
          <a:p>
            <a:pPr marL="0" indent="0">
              <a:buNone/>
            </a:pPr>
            <a:r>
              <a:rPr lang="en-US" dirty="0"/>
              <a:t>    close(fig);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fprintf</a:t>
            </a:r>
            <a:r>
              <a:rPr lang="en-US" dirty="0"/>
              <a:t>('Fixed: %s\n', </a:t>
            </a:r>
            <a:r>
              <a:rPr lang="en-US" dirty="0" err="1"/>
              <a:t>fig_files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).name);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305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687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Multi-model sequential forecasts and ensembles using QuantDiffForecast</vt:lpstr>
      <vt:lpstr>What we will cover today</vt:lpstr>
      <vt:lpstr>Prerequisites and setup</vt:lpstr>
      <vt:lpstr>Why more than one model</vt:lpstr>
      <vt:lpstr>Revisiting QuantDiffForecast toolbox</vt:lpstr>
      <vt:lpstr>Sequential windows forecasting (e.g. shifting windows by forecast horizon)</vt:lpstr>
      <vt:lpstr>Model performance metrics</vt:lpstr>
      <vt:lpstr>The ensemble and the linear pool</vt:lpstr>
      <vt:lpstr>Calibration-only weighting, and its blind spot</vt:lpstr>
      <vt:lpstr>JCF ensembles and the role of λ</vt:lpstr>
      <vt:lpstr>Practice</vt:lpstr>
      <vt:lpstr>Optional (making editable plots)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Kumar Subedi</dc:creator>
  <cp:lastModifiedBy>Raj Kumar Subedi</cp:lastModifiedBy>
  <cp:revision>9</cp:revision>
  <dcterms:created xsi:type="dcterms:W3CDTF">2026-09-11T09:46:11Z</dcterms:created>
  <dcterms:modified xsi:type="dcterms:W3CDTF">2026-09-11T13:53:35Z</dcterms:modified>
</cp:coreProperties>
</file>