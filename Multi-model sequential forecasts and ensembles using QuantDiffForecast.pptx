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C18387-E5BE-DAA2-9115-314C3FC8D3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338C4E-2E49-D8D4-D500-247D18502E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C7A59C-8B6B-7B12-EDAD-C3B23FF34D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DD96A-5139-4DE4-8E88-26EA266AFBF9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888B22-CB50-3D79-030C-13B4433EB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2E96EC-F185-2EF0-EF0B-EA295E96D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4B78B4-4CEE-4A92-8B2C-2C46209CC9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69840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5B47E-3E4A-BEE9-8C3C-B7B5780C16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61405-B04E-F3A7-8F88-B533BB051D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4E06CB-E66D-673D-4A76-E8D1A43EF1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DD96A-5139-4DE4-8E88-26EA266AFBF9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7710AE-1609-4F0B-DCD8-46E81F0A47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7E6F09-B363-0872-3B21-FEE412764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4B78B4-4CEE-4A92-8B2C-2C46209CC9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08304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D1DD6A-F1C7-0E25-0D32-65F26502D3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CDF767-7BE5-E769-F2B8-6704E06238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D1FDB3-C24B-B148-AC3C-6B7F93A4C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DD96A-5139-4DE4-8E88-26EA266AFBF9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264EEA-8926-3299-4C42-C1BD9F8C9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6793EF-4798-EFC4-88D2-B4D1BFCB9E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4B78B4-4CEE-4A92-8B2C-2C46209CC9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7658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1627B-C658-17E8-C157-263E5CD68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31D057-4125-6053-5CE6-8CD3D355E0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47994F-8CF1-C37A-B3AE-C52990C053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8B99C9-6306-CB88-5794-3DC30833A7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DD96A-5139-4DE4-8E88-26EA266AFBF9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F664A3-3802-C2FA-CDF5-7D8A5E2102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8718DA-B8D4-A725-2DAA-B29592945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4B78B4-4CEE-4A92-8B2C-2C46209CC9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63557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B3059-A77F-FD89-5AF1-7A71759A3E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27E3C8-EC1A-F0F4-B635-8EC8C4339F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00DDDD-1FB6-CF16-E355-42C1D100ED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2B1809-FE97-CC44-9BD8-4F50F30357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D39D95-784A-6E29-DCE9-CD85084612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01CFEBD-8C0A-932E-6D8F-7048C64CB0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DD96A-5139-4DE4-8E88-26EA266AFBF9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C4D1C48-018A-1ACF-0955-56F472C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4D10D64-273E-5C15-9908-E44951222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4B78B4-4CEE-4A92-8B2C-2C46209CC9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36753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EA485D-5405-29EE-799F-3956546EA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27296FE-47AA-0C53-1C87-7242DD923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DD96A-5139-4DE4-8E88-26EA266AFBF9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6366A5-63C1-C7C4-EE4D-CD26FE7560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8612BB-3965-7065-2396-C6170BE48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4B78B4-4CEE-4A92-8B2C-2C46209CC9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6824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0D0FD83-69D1-E858-95D8-5FBF2104CF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DD96A-5139-4DE4-8E88-26EA266AFBF9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2B727B0-33B9-FE5E-45A0-32E57AC268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E63841-5931-A51F-BC0C-9EA813FCC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4B78B4-4CEE-4A92-8B2C-2C46209CC9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89715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DE3E4-7E10-46C5-2B7B-3BBE717F58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5A2C4A-84BE-FC7C-CE65-F828847EB3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E9DC91-4E09-0D32-52F0-8B193BF48D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15A234-CCFF-C9CA-C985-7EE045FEB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DD96A-5139-4DE4-8E88-26EA266AFBF9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39AFA0-42F0-99E7-6666-2BA1C57D64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E738E1-F030-B69B-4398-F1964EF05E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4B78B4-4CEE-4A92-8B2C-2C46209CC9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3750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02DED-C66B-8D86-CAA6-1C3A94AF20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C705E71-6C46-83EE-F070-C90B7D695CC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B0F8B8-25F5-3362-3C06-06B30DC049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FAFCC6-7B24-9AB9-51A1-82D5822224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DD96A-5139-4DE4-8E88-26EA266AFBF9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8ADF14-C046-56A1-8AC3-89CA1F4C1A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6E45CE-C2D5-179A-A1A6-48FF24EC7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4B78B4-4CEE-4A92-8B2C-2C46209CC9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70323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1CB40-D25E-21BB-2B4E-2B58AC383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D154F19-5153-20DA-F226-DBE93BDF94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02B097-487D-8B67-5A3C-E0C4E7BE1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DD96A-5139-4DE4-8E88-26EA266AFBF9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FE5107-7A44-D0F9-921D-15D282ADD1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BCC75D-51B5-8FAE-CE01-A0E4339E4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4B78B4-4CEE-4A92-8B2C-2C46209CC9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0306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7A09B2-4E3D-FD02-9A12-B39130FA328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C83955-B213-528F-D1C9-98389A128A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03E3AC-8639-32E2-B0A3-48FCA4E234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DD96A-5139-4DE4-8E88-26EA266AFBF9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608F3C-0C48-6B0E-AB1F-E85DA1973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B729E3-40BF-3677-E45A-43BCA1A57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4B78B4-4CEE-4A92-8B2C-2C46209CC9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42663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5EDD310-8882-73DC-D4F0-6FF9906069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A8C84D-C869-91F5-B0B7-9491950462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AF5FB6-856F-49D1-26FA-CD6CAE1D97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4DD96A-5139-4DE4-8E88-26EA266AFBF9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6545E7-2D9E-29A9-FE96-E26AFD02FA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1D5E37-2035-5D86-53FA-E2F846D77A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84B78B4-4CEE-4A92-8B2C-2C46209CC9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43039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://www.github.com/rajsubediresearch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ithub.com/rajsubediresearch/JCF-project-8280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github.com/rajsubediresearch/JCF-project-8280" TargetMode="External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rajsubediresearch/JCF-project-8280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187FD2-E8D7-B4C9-519D-6BC974CC0FC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Multi-model sequential forecasts and ensembles using </a:t>
            </a:r>
            <a:r>
              <a:rPr lang="en-US" dirty="0" err="1"/>
              <a:t>QuantDiffForecast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84092D8-7633-FB30-5A9D-AC04E1F5190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602144"/>
            <a:ext cx="9144000" cy="655655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Raj Kumar Subedi</a:t>
            </a:r>
          </a:p>
          <a:p>
            <a:r>
              <a:rPr lang="en-US" dirty="0">
                <a:hlinkClick r:id="rId2"/>
              </a:rPr>
              <a:t>www.github.com/rajsubediresearch</a:t>
            </a:r>
            <a:r>
              <a:rPr lang="en-US" dirty="0"/>
              <a:t> 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46250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95A57D-0277-4DDA-7A72-DF63275175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50726"/>
          </a:xfrm>
        </p:spPr>
        <p:txBody>
          <a:bodyPr/>
          <a:lstStyle/>
          <a:p>
            <a:r>
              <a:rPr lang="en-US" b="1" dirty="0"/>
              <a:t>What we will cover today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556B60-BF84-99AB-5352-672187F99C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Why more than one model</a:t>
            </a:r>
          </a:p>
          <a:p>
            <a:r>
              <a:rPr lang="en-US" dirty="0"/>
              <a:t>Revisiting </a:t>
            </a:r>
            <a:r>
              <a:rPr lang="en-US" dirty="0" err="1"/>
              <a:t>QuantDiffForecast</a:t>
            </a:r>
            <a:r>
              <a:rPr lang="en-US" dirty="0"/>
              <a:t> toolbox</a:t>
            </a:r>
          </a:p>
          <a:p>
            <a:r>
              <a:rPr lang="en-US" dirty="0"/>
              <a:t>Sequential windows forecasting</a:t>
            </a:r>
          </a:p>
          <a:p>
            <a:r>
              <a:rPr lang="en-US" dirty="0"/>
              <a:t>Model performance metrices</a:t>
            </a:r>
          </a:p>
          <a:p>
            <a:r>
              <a:rPr lang="en-US" dirty="0"/>
              <a:t>The ensemble and the linear pool</a:t>
            </a:r>
          </a:p>
          <a:p>
            <a:r>
              <a:rPr lang="en-US" dirty="0"/>
              <a:t>Calibration only weights and it’s blind spot</a:t>
            </a:r>
          </a:p>
          <a:p>
            <a:r>
              <a:rPr lang="en-US" dirty="0"/>
              <a:t>Concept of Joint-Calibration-Forecast (JCF) ensembles and the role of λ</a:t>
            </a:r>
          </a:p>
        </p:txBody>
      </p:sp>
    </p:spTree>
    <p:extLst>
      <p:ext uri="{BB962C8B-B14F-4D97-AF65-F5344CB8AC3E}">
        <p14:creationId xmlns:p14="http://schemas.microsoft.com/office/powerpoint/2010/main" val="26645876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654253-8935-4273-3854-B69A57544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88985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Prerequisites and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181394-C66A-61C6-EFD6-38353DF488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92579"/>
            <a:ext cx="10787744" cy="636221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Download the repo </a:t>
            </a:r>
            <a:r>
              <a:rPr lang="en-US" dirty="0">
                <a:hlinkClick r:id="rId2"/>
              </a:rPr>
              <a:t>https://github.com/rajsubediresearch/JCF-project-8280</a:t>
            </a:r>
            <a:r>
              <a:rPr lang="en-US" dirty="0"/>
              <a:t> 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BE58B1B-2850-BDBF-643D-658F0BC848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5739" y="1902574"/>
            <a:ext cx="7537729" cy="4350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5030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370320-DA96-DF6E-1EFF-C601CC620D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4109"/>
            <a:ext cx="10515600" cy="830629"/>
          </a:xfrm>
        </p:spPr>
        <p:txBody>
          <a:bodyPr/>
          <a:lstStyle/>
          <a:p>
            <a:r>
              <a:rPr lang="en-US" b="1" dirty="0"/>
              <a:t>Why more than one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562012-EBDF-3B76-A159-09449E66AF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966" y="1690688"/>
            <a:ext cx="3094893" cy="4351338"/>
          </a:xfrm>
        </p:spPr>
        <p:txBody>
          <a:bodyPr>
            <a:normAutofit fontScale="85000" lnSpcReduction="20000"/>
          </a:bodyPr>
          <a:lstStyle/>
          <a:p>
            <a:r>
              <a:rPr lang="en-US" b="1" dirty="0"/>
              <a:t>The shape of the curve changes over time during an outbreak </a:t>
            </a:r>
            <a:r>
              <a:rPr lang="en-US" dirty="0">
                <a:solidFill>
                  <a:schemeClr val="tx2">
                    <a:lumMod val="50000"/>
                    <a:lumOff val="50000"/>
                  </a:schemeClr>
                </a:solidFill>
              </a:rPr>
              <a:t>due to </a:t>
            </a:r>
          </a:p>
          <a:p>
            <a:pPr lvl="1"/>
            <a:r>
              <a:rPr lang="en-US" dirty="0"/>
              <a:t>depleting </a:t>
            </a:r>
            <a:r>
              <a:rPr lang="en-US" dirty="0" err="1"/>
              <a:t>susceptibles</a:t>
            </a:r>
            <a:r>
              <a:rPr lang="en-US" dirty="0"/>
              <a:t>, </a:t>
            </a:r>
          </a:p>
          <a:p>
            <a:pPr lvl="1"/>
            <a:r>
              <a:rPr lang="en-US" dirty="0"/>
              <a:t>interventions, </a:t>
            </a:r>
          </a:p>
          <a:p>
            <a:pPr lvl="1"/>
            <a:r>
              <a:rPr lang="en-US" dirty="0" err="1"/>
              <a:t>behaviour</a:t>
            </a:r>
            <a:r>
              <a:rPr lang="en-US" dirty="0"/>
              <a:t> change, </a:t>
            </a:r>
          </a:p>
          <a:p>
            <a:pPr lvl="1"/>
            <a:r>
              <a:rPr lang="en-US" dirty="0"/>
              <a:t>spread into new subpopulations, </a:t>
            </a:r>
          </a:p>
          <a:p>
            <a:pPr lvl="1"/>
            <a:r>
              <a:rPr lang="en-US" dirty="0"/>
              <a:t>and changes in reporting </a:t>
            </a:r>
          </a:p>
          <a:p>
            <a:r>
              <a:rPr lang="en-US" dirty="0">
                <a:solidFill>
                  <a:srgbClr val="C00000"/>
                </a:solidFill>
              </a:rPr>
              <a:t>The model that fits best early is rarely the one that fits best later !!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93C6200-750C-55F3-48CF-4B67022E90B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654" t="12802" r="9731" b="-1"/>
          <a:stretch>
            <a:fillRect/>
          </a:stretch>
        </p:blipFill>
        <p:spPr>
          <a:xfrm>
            <a:off x="4027295" y="1449527"/>
            <a:ext cx="6595069" cy="5141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63741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28AD2B-1CAB-86C3-3EAF-88B1297AD6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4545"/>
            <a:ext cx="10515600" cy="639710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Revisiting </a:t>
            </a:r>
            <a:r>
              <a:rPr lang="en-US" b="1" dirty="0" err="1"/>
              <a:t>QuantDiffForecast</a:t>
            </a:r>
            <a:r>
              <a:rPr lang="en-US" b="1" dirty="0"/>
              <a:t> toolbox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EA44C8B-7B84-A8BE-F5ED-43743B80A8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303" y="1061741"/>
            <a:ext cx="10430497" cy="5551714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C2942A9A-C539-BCE9-D317-F1831F96BD27}"/>
              </a:ext>
            </a:extLst>
          </p:cNvPr>
          <p:cNvSpPr/>
          <p:nvPr/>
        </p:nvSpPr>
        <p:spPr>
          <a:xfrm>
            <a:off x="8631534" y="3245186"/>
            <a:ext cx="552659" cy="231140"/>
          </a:xfrm>
          <a:prstGeom prst="ellipse">
            <a:avLst/>
          </a:prstGeom>
          <a:solidFill>
            <a:schemeClr val="bg1">
              <a:lumMod val="95000"/>
              <a:alpha val="4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Arrow: Left 6">
            <a:extLst>
              <a:ext uri="{FF2B5EF4-FFF2-40B4-BE49-F238E27FC236}">
                <a16:creationId xmlns:a16="http://schemas.microsoft.com/office/drawing/2014/main" id="{54D36DD0-5DDA-6850-9C05-361BD5C52F20}"/>
              </a:ext>
            </a:extLst>
          </p:cNvPr>
          <p:cNvSpPr/>
          <p:nvPr/>
        </p:nvSpPr>
        <p:spPr>
          <a:xfrm>
            <a:off x="9184193" y="3313471"/>
            <a:ext cx="657897" cy="115529"/>
          </a:xfrm>
          <a:prstGeom prst="lef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2EB385-62F0-FC13-98FB-EB1B9FC0088C}"/>
              </a:ext>
            </a:extLst>
          </p:cNvPr>
          <p:cNvSpPr txBox="1"/>
          <p:nvPr/>
        </p:nvSpPr>
        <p:spPr>
          <a:xfrm>
            <a:off x="9903110" y="3444870"/>
            <a:ext cx="15219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Output folder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ECCADCCE-7DBB-5DD3-51A5-DA7C7B21D375}"/>
              </a:ext>
            </a:extLst>
          </p:cNvPr>
          <p:cNvSpPr/>
          <p:nvPr/>
        </p:nvSpPr>
        <p:spPr>
          <a:xfrm>
            <a:off x="8626616" y="3525407"/>
            <a:ext cx="552659" cy="208259"/>
          </a:xfrm>
          <a:prstGeom prst="ellipse">
            <a:avLst/>
          </a:prstGeom>
          <a:solidFill>
            <a:schemeClr val="bg1">
              <a:lumMod val="95000"/>
              <a:alpha val="4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Arrow: Left 11">
            <a:extLst>
              <a:ext uri="{FF2B5EF4-FFF2-40B4-BE49-F238E27FC236}">
                <a16:creationId xmlns:a16="http://schemas.microsoft.com/office/drawing/2014/main" id="{DBB340DB-1EF1-4C41-5274-403F8CFB1569}"/>
              </a:ext>
            </a:extLst>
          </p:cNvPr>
          <p:cNvSpPr/>
          <p:nvPr/>
        </p:nvSpPr>
        <p:spPr>
          <a:xfrm>
            <a:off x="9184193" y="3562900"/>
            <a:ext cx="657897" cy="115529"/>
          </a:xfrm>
          <a:prstGeom prst="lef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0D3FD5-5C8A-5D03-805B-9895AF6247E3}"/>
              </a:ext>
            </a:extLst>
          </p:cNvPr>
          <p:cNvSpPr txBox="1"/>
          <p:nvPr/>
        </p:nvSpPr>
        <p:spPr>
          <a:xfrm>
            <a:off x="9842090" y="3171461"/>
            <a:ext cx="17403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Data file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A5F8093-477F-562B-F686-07E71646ADA6}"/>
              </a:ext>
            </a:extLst>
          </p:cNvPr>
          <p:cNvSpPr txBox="1"/>
          <p:nvPr/>
        </p:nvSpPr>
        <p:spPr>
          <a:xfrm>
            <a:off x="8190272" y="4238434"/>
            <a:ext cx="361827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Phenomenological models in the toolbox:</a:t>
            </a:r>
          </a:p>
          <a:p>
            <a:r>
              <a:rPr lang="en-US" sz="1400" dirty="0">
                <a:solidFill>
                  <a:srgbClr val="FF0000"/>
                </a:solidFill>
              </a:rPr>
              <a:t>Exponential Model (</a:t>
            </a:r>
            <a:r>
              <a:rPr lang="en-US" sz="1400" dirty="0">
                <a:solidFill>
                  <a:srgbClr val="FF0000"/>
                </a:solidFill>
                <a:highlight>
                  <a:srgbClr val="FFFF00"/>
                </a:highlight>
              </a:rPr>
              <a:t>EXP</a:t>
            </a:r>
            <a:r>
              <a:rPr lang="en-US" sz="1400" dirty="0">
                <a:solidFill>
                  <a:srgbClr val="FF0000"/>
                </a:solidFill>
              </a:rPr>
              <a:t>)</a:t>
            </a:r>
          </a:p>
          <a:p>
            <a:r>
              <a:rPr lang="en-US" sz="1400" dirty="0">
                <a:solidFill>
                  <a:srgbClr val="FF0000"/>
                </a:solidFill>
              </a:rPr>
              <a:t>Generalized Growth Model (</a:t>
            </a:r>
            <a:r>
              <a:rPr lang="en-US" sz="1400" dirty="0">
                <a:solidFill>
                  <a:srgbClr val="FF0000"/>
                </a:solidFill>
                <a:highlight>
                  <a:srgbClr val="FFFF00"/>
                </a:highlight>
              </a:rPr>
              <a:t>GGM</a:t>
            </a:r>
            <a:r>
              <a:rPr lang="en-US" sz="1400" dirty="0">
                <a:solidFill>
                  <a:srgbClr val="FF0000"/>
                </a:solidFill>
              </a:rPr>
              <a:t>)</a:t>
            </a:r>
          </a:p>
          <a:p>
            <a:r>
              <a:rPr lang="en-US" sz="1400" dirty="0">
                <a:solidFill>
                  <a:srgbClr val="FF0000"/>
                </a:solidFill>
              </a:rPr>
              <a:t>Logistic Growth Model </a:t>
            </a:r>
            <a:r>
              <a:rPr lang="en-US" sz="1400" dirty="0">
                <a:solidFill>
                  <a:srgbClr val="FF0000"/>
                </a:solidFill>
                <a:highlight>
                  <a:srgbClr val="FFFF00"/>
                </a:highlight>
              </a:rPr>
              <a:t>(LM)</a:t>
            </a:r>
          </a:p>
          <a:p>
            <a:r>
              <a:rPr lang="en-US" sz="1400" dirty="0">
                <a:solidFill>
                  <a:srgbClr val="FF0000"/>
                </a:solidFill>
              </a:rPr>
              <a:t>Generalized Logistic Growth Model (</a:t>
            </a:r>
            <a:r>
              <a:rPr lang="en-US" sz="1400" dirty="0">
                <a:solidFill>
                  <a:srgbClr val="FF0000"/>
                </a:solidFill>
                <a:highlight>
                  <a:srgbClr val="FFFF00"/>
                </a:highlight>
              </a:rPr>
              <a:t>GLM</a:t>
            </a:r>
            <a:r>
              <a:rPr lang="en-US" sz="1400" dirty="0">
                <a:solidFill>
                  <a:srgbClr val="FF0000"/>
                </a:solidFill>
              </a:rPr>
              <a:t>)</a:t>
            </a:r>
          </a:p>
          <a:p>
            <a:r>
              <a:rPr lang="en-US" sz="1400" dirty="0">
                <a:solidFill>
                  <a:srgbClr val="FF0000"/>
                </a:solidFill>
              </a:rPr>
              <a:t>Richards Model (</a:t>
            </a:r>
            <a:r>
              <a:rPr lang="en-US" sz="1400" dirty="0">
                <a:solidFill>
                  <a:srgbClr val="FF0000"/>
                </a:solidFill>
                <a:highlight>
                  <a:srgbClr val="FFFF00"/>
                </a:highlight>
              </a:rPr>
              <a:t>RICH</a:t>
            </a:r>
            <a:r>
              <a:rPr lang="en-US" sz="1400" dirty="0">
                <a:solidFill>
                  <a:srgbClr val="FF0000"/>
                </a:solidFill>
              </a:rPr>
              <a:t>)</a:t>
            </a:r>
          </a:p>
          <a:p>
            <a:r>
              <a:rPr lang="en-US" sz="1400" dirty="0">
                <a:solidFill>
                  <a:srgbClr val="FF0000"/>
                </a:solidFill>
              </a:rPr>
              <a:t>Gompertz Model (</a:t>
            </a:r>
            <a:r>
              <a:rPr lang="en-US" sz="1400" dirty="0">
                <a:solidFill>
                  <a:srgbClr val="FF0000"/>
                </a:solidFill>
                <a:highlight>
                  <a:srgbClr val="FFFF00"/>
                </a:highlight>
              </a:rPr>
              <a:t>GOM</a:t>
            </a:r>
            <a:r>
              <a:rPr lang="en-US" sz="1400" dirty="0">
                <a:solidFill>
                  <a:srgbClr val="FF0000"/>
                </a:solidFill>
              </a:rPr>
              <a:t>)</a:t>
            </a:r>
          </a:p>
          <a:p>
            <a:r>
              <a:rPr lang="en-US" sz="1400" dirty="0">
                <a:solidFill>
                  <a:srgbClr val="FF0000"/>
                </a:solidFill>
              </a:rPr>
              <a:t>Generalized Richards Model (</a:t>
            </a:r>
            <a:r>
              <a:rPr lang="en-US" sz="1400" dirty="0">
                <a:solidFill>
                  <a:srgbClr val="FF0000"/>
                </a:solidFill>
                <a:highlight>
                  <a:srgbClr val="FFFF00"/>
                </a:highlight>
              </a:rPr>
              <a:t>GRM</a:t>
            </a:r>
            <a:r>
              <a:rPr lang="en-US" sz="1400" dirty="0">
                <a:solidFill>
                  <a:srgbClr val="FF0000"/>
                </a:solidFill>
              </a:rPr>
              <a:t>)</a:t>
            </a:r>
          </a:p>
          <a:p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6797236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81F075-7A59-9CB6-1B29-EAA216B17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39443"/>
          </a:xfrm>
        </p:spPr>
        <p:txBody>
          <a:bodyPr>
            <a:noAutofit/>
          </a:bodyPr>
          <a:lstStyle/>
          <a:p>
            <a:r>
              <a:rPr lang="en-US" sz="2400" b="1" dirty="0"/>
              <a:t>Sequential windows forecasting (e.g. shifting windows by forecast horizon)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941F86F-CE59-7683-42A2-BC254B1CFA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819" y="1388077"/>
            <a:ext cx="10943268" cy="428281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2D4290D-2D59-E114-9901-9FFEC43AF99D}"/>
              </a:ext>
            </a:extLst>
          </p:cNvPr>
          <p:cNvSpPr txBox="1"/>
          <p:nvPr/>
        </p:nvSpPr>
        <p:spPr>
          <a:xfrm>
            <a:off x="3846573" y="2920181"/>
            <a:ext cx="825693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Examples:</a:t>
            </a:r>
          </a:p>
          <a:p>
            <a:r>
              <a:rPr lang="en-US" sz="1600" dirty="0" err="1">
                <a:solidFill>
                  <a:srgbClr val="FF0000"/>
                </a:solidFill>
              </a:rPr>
              <a:t>Run_Forecasting_ODEModel</a:t>
            </a:r>
            <a:r>
              <a:rPr lang="en-US" sz="1600" dirty="0">
                <a:solidFill>
                  <a:srgbClr val="FF0000"/>
                </a:solidFill>
              </a:rPr>
              <a:t>(@options_forecast_GLM_ebola_scenario1,1,1,20,4)</a:t>
            </a:r>
          </a:p>
          <a:p>
            <a:r>
              <a:rPr lang="en-US" sz="1600" dirty="0" err="1">
                <a:solidFill>
                  <a:srgbClr val="FF0000"/>
                </a:solidFill>
              </a:rPr>
              <a:t>Run_Forecasting_ODEModel</a:t>
            </a:r>
            <a:r>
              <a:rPr lang="en-US" sz="1600" dirty="0">
                <a:solidFill>
                  <a:srgbClr val="FF0000"/>
                </a:solidFill>
              </a:rPr>
              <a:t>(@options_forecast_GLM_ebola_scenario1,5,5,20,4)</a:t>
            </a:r>
          </a:p>
          <a:p>
            <a:r>
              <a:rPr lang="en-US" sz="1600" dirty="0" err="1">
                <a:solidFill>
                  <a:srgbClr val="FF0000"/>
                </a:solidFill>
              </a:rPr>
              <a:t>Run_Forecasting_ODEModel</a:t>
            </a:r>
            <a:r>
              <a:rPr lang="en-US" sz="1600" dirty="0">
                <a:solidFill>
                  <a:srgbClr val="FF0000"/>
                </a:solidFill>
              </a:rPr>
              <a:t>(@options_forecast_GLM_ebola_scenario1,9,9,20,4)</a:t>
            </a:r>
          </a:p>
          <a:p>
            <a:r>
              <a:rPr lang="en-US" sz="1600" dirty="0" err="1">
                <a:solidFill>
                  <a:srgbClr val="FF0000"/>
                </a:solidFill>
              </a:rPr>
              <a:t>Run_Forecasting_ODEModel</a:t>
            </a:r>
            <a:r>
              <a:rPr lang="en-US" sz="1600" dirty="0">
                <a:solidFill>
                  <a:srgbClr val="FF0000"/>
                </a:solidFill>
              </a:rPr>
              <a:t>(@options_forecast_GLM_ebola_scenario1,13,13,20,4)</a:t>
            </a:r>
          </a:p>
          <a:p>
            <a:r>
              <a:rPr lang="en-US" sz="1600" dirty="0" err="1">
                <a:solidFill>
                  <a:srgbClr val="FF0000"/>
                </a:solidFill>
              </a:rPr>
              <a:t>Run_Forecasting_ODEModel</a:t>
            </a:r>
            <a:r>
              <a:rPr lang="en-US" sz="1600" dirty="0">
                <a:solidFill>
                  <a:srgbClr val="FF0000"/>
                </a:solidFill>
              </a:rPr>
              <a:t>(@options_forecast_GLM_ebola_scenario1,17,17,20,4)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72485D-7CB8-0E8F-E244-7483EF9AC9CF}"/>
              </a:ext>
            </a:extLst>
          </p:cNvPr>
          <p:cNvSpPr txBox="1"/>
          <p:nvPr/>
        </p:nvSpPr>
        <p:spPr>
          <a:xfrm>
            <a:off x="3713561" y="4650184"/>
            <a:ext cx="76402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ighlight>
                  <a:srgbClr val="FFFF00"/>
                </a:highlight>
              </a:rPr>
              <a:t>Instead of running the sequential forecasting one by one, we can make a wrapper file and automate the forecasting process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DD404FC-C18B-93F9-F0D8-496094FB11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609" y="5412266"/>
            <a:ext cx="6035563" cy="891617"/>
          </a:xfrm>
          <a:prstGeom prst="rect">
            <a:avLst/>
          </a:prstGeom>
        </p:spPr>
      </p:pic>
      <p:sp>
        <p:nvSpPr>
          <p:cNvPr id="12" name="Oval 11">
            <a:extLst>
              <a:ext uri="{FF2B5EF4-FFF2-40B4-BE49-F238E27FC236}">
                <a16:creationId xmlns:a16="http://schemas.microsoft.com/office/drawing/2014/main" id="{BAE2B413-2656-3BAA-F813-69C36A9ADCB6}"/>
              </a:ext>
            </a:extLst>
          </p:cNvPr>
          <p:cNvSpPr/>
          <p:nvPr/>
        </p:nvSpPr>
        <p:spPr>
          <a:xfrm>
            <a:off x="4343401" y="5342693"/>
            <a:ext cx="2146852" cy="1177377"/>
          </a:xfrm>
          <a:prstGeom prst="ellipse">
            <a:avLst/>
          </a:prstGeom>
          <a:solidFill>
            <a:srgbClr val="C00000">
              <a:alpha val="2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52723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9F6E0-7981-AE07-57BA-619BA5AB4D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performance metrics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46DAF9-0AB4-144E-503C-EB482D3A6B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2075" y="1366343"/>
            <a:ext cx="10515600" cy="809297"/>
          </a:xfrm>
        </p:spPr>
        <p:txBody>
          <a:bodyPr>
            <a:normAutofit fontScale="85000" lnSpcReduction="20000"/>
          </a:bodyPr>
          <a:lstStyle/>
          <a:p>
            <a:r>
              <a:rPr lang="en-US" dirty="0">
                <a:solidFill>
                  <a:srgbClr val="FF0000"/>
                </a:solidFill>
              </a:rPr>
              <a:t>Calibration metrics</a:t>
            </a:r>
          </a:p>
          <a:p>
            <a:r>
              <a:rPr lang="en-US" dirty="0">
                <a:solidFill>
                  <a:srgbClr val="FF0000"/>
                </a:solidFill>
              </a:rPr>
              <a:t>Forecast Metrics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45AFF0-8AE2-B7F7-05E8-3EC849B088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111" y="2175641"/>
            <a:ext cx="11109434" cy="4487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35324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C04DF4-2847-4209-6126-3471878DDE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The ensemble and the linear pool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650B70-0C7D-8DD1-E92C-253E9EBC91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Once each model has produced a predictive distribution for each future week, we combine them. </a:t>
            </a:r>
          </a:p>
          <a:p>
            <a:endParaRPr lang="en-US" dirty="0"/>
          </a:p>
          <a:p>
            <a:r>
              <a:rPr lang="en-US" dirty="0"/>
              <a:t>We use linear pool approach (see </a:t>
            </a:r>
            <a:r>
              <a:rPr lang="en-US" dirty="0" err="1">
                <a:solidFill>
                  <a:srgbClr val="FF0000"/>
                </a:solidFill>
              </a:rPr>
              <a:t>getensemble_linearpool_from_curves.m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for details)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16447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C01D67-0A09-2CBB-31B0-693CB67F1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 dirty="0"/>
              <a:t>Calibration-only weighting, and its blind spot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23734C-62F1-12BB-DE66-33BC053626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common practice (and is reasonable). However:</a:t>
            </a:r>
          </a:p>
          <a:p>
            <a:pPr lvl="1"/>
            <a:endParaRPr lang="en-US" dirty="0"/>
          </a:p>
          <a:p>
            <a:pPr lvl="1"/>
            <a:r>
              <a:rPr lang="en-US" dirty="0">
                <a:solidFill>
                  <a:srgbClr val="FF0000"/>
                </a:solidFill>
              </a:rPr>
              <a:t>Calibration WIS is in-sample. </a:t>
            </a:r>
          </a:p>
          <a:p>
            <a:pPr lvl="1"/>
            <a:endParaRPr lang="en-US" dirty="0">
              <a:solidFill>
                <a:srgbClr val="FF0000"/>
              </a:solidFill>
            </a:endParaRPr>
          </a:p>
          <a:p>
            <a:pPr lvl="1"/>
            <a:r>
              <a:rPr lang="en-US" dirty="0">
                <a:solidFill>
                  <a:srgbClr val="FF0000"/>
                </a:solidFill>
              </a:rPr>
              <a:t>It scores the model on data the model has already seen and has been tuned to.</a:t>
            </a:r>
          </a:p>
          <a:p>
            <a:pPr lvl="1"/>
            <a:endParaRPr lang="en-US" dirty="0">
              <a:solidFill>
                <a:srgbClr val="FF0000"/>
              </a:solidFill>
            </a:endParaRPr>
          </a:p>
          <a:p>
            <a:pPr lvl="1"/>
            <a:r>
              <a:rPr lang="en-US" dirty="0">
                <a:solidFill>
                  <a:srgbClr val="FF0000"/>
                </a:solidFill>
              </a:rPr>
              <a:t>Over-fitting models might not forecast well</a:t>
            </a:r>
          </a:p>
        </p:txBody>
      </p:sp>
    </p:spTree>
    <p:extLst>
      <p:ext uri="{BB962C8B-B14F-4D97-AF65-F5344CB8AC3E}">
        <p14:creationId xmlns:p14="http://schemas.microsoft.com/office/powerpoint/2010/main" val="19438075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DB6C67-A1C1-E6BE-8CC2-6C6BCDF382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JCF ensembles and the role of λ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93A6BD-182B-48F1-5C94-63818067AB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For each model in each window, we form a score that is a blend of two numbers: lambda times the current window’s calibration WIS, plus one minus lambda times the previous window’s forecast WIS. </a:t>
            </a:r>
          </a:p>
          <a:p>
            <a:r>
              <a:rPr lang="en-US" dirty="0"/>
              <a:t>Then, the weight is one over that score, normalized.</a:t>
            </a:r>
          </a:p>
          <a:p>
            <a:r>
              <a:rPr lang="en-US" dirty="0">
                <a:solidFill>
                  <a:srgbClr val="FF0000"/>
                </a:solidFill>
              </a:rPr>
              <a:t>See details at </a:t>
            </a:r>
            <a:r>
              <a:rPr lang="en-US" dirty="0">
                <a:solidFill>
                  <a:srgbClr val="FF000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https://github.com/rajsubediresearch/JCF-project-8280</a:t>
            </a:r>
            <a:r>
              <a:rPr lang="en-US" dirty="0">
                <a:solidFill>
                  <a:srgbClr val="FF0000"/>
                </a:solidFill>
              </a:rPr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C81ADE7-8F36-26F9-3B3B-9D7FDBC38D5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478166" y="1825625"/>
            <a:ext cx="9045724" cy="1120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9746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276D81-F9D7-9C61-8064-4BC6121B8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Practice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75EBED-413A-1233-1C5B-4FDDCEAF92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Copy the files from the repository </a:t>
            </a:r>
            <a:r>
              <a:rPr lang="en-US" dirty="0">
                <a:hlinkClick r:id="rId2"/>
              </a:rPr>
              <a:t>https://github.com/rajsubediresearch/JCF-project-8280</a:t>
            </a:r>
            <a:r>
              <a:rPr lang="en-US" dirty="0"/>
              <a:t>  folder to your </a:t>
            </a:r>
            <a:r>
              <a:rPr lang="en-US" dirty="0" err="1"/>
              <a:t>QuantDiffForecast</a:t>
            </a:r>
            <a:r>
              <a:rPr lang="en-US" dirty="0"/>
              <a:t> toolbox including the datasets. You don’t have to replace the existing files.</a:t>
            </a:r>
          </a:p>
          <a:p>
            <a:r>
              <a:rPr lang="en-US" dirty="0"/>
              <a:t>Run these in order:</a:t>
            </a:r>
          </a:p>
          <a:p>
            <a:pPr lvl="1"/>
            <a:r>
              <a:rPr lang="it-IT" dirty="0">
                <a:solidFill>
                  <a:srgbClr val="FF0000"/>
                </a:solidFill>
              </a:rPr>
              <a:t>batch_GLM_ebola_scenario1</a:t>
            </a:r>
          </a:p>
          <a:p>
            <a:pPr lvl="1"/>
            <a:r>
              <a:rPr lang="it-IT" dirty="0">
                <a:solidFill>
                  <a:srgbClr val="FF0000"/>
                </a:solidFill>
              </a:rPr>
              <a:t>batch_GOM_ebola_scenario1</a:t>
            </a:r>
          </a:p>
          <a:p>
            <a:pPr lvl="1"/>
            <a:r>
              <a:rPr lang="it-IT" dirty="0">
                <a:solidFill>
                  <a:srgbClr val="FF0000"/>
                </a:solidFill>
              </a:rPr>
              <a:t>batch_RICH_ebola_scenario1</a:t>
            </a:r>
          </a:p>
          <a:p>
            <a:pPr lvl="1"/>
            <a:r>
              <a:rPr lang="en-US" dirty="0" err="1">
                <a:solidFill>
                  <a:srgbClr val="FF0000"/>
                </a:solidFill>
              </a:rPr>
              <a:t>collect_metrics_simple</a:t>
            </a:r>
            <a:r>
              <a:rPr lang="en-US" dirty="0">
                <a:solidFill>
                  <a:srgbClr val="FF0000"/>
                </a:solidFill>
              </a:rPr>
              <a:t>()</a:t>
            </a:r>
          </a:p>
          <a:p>
            <a:pPr lvl="1"/>
            <a:r>
              <a:rPr lang="en-US" dirty="0" err="1">
                <a:solidFill>
                  <a:srgbClr val="FF0000"/>
                </a:solidFill>
              </a:rPr>
              <a:t>create_ensemble_simple</a:t>
            </a:r>
            <a:r>
              <a:rPr lang="en-US" dirty="0">
                <a:solidFill>
                  <a:srgbClr val="FF0000"/>
                </a:solidFill>
              </a:rPr>
              <a:t>()</a:t>
            </a:r>
          </a:p>
          <a:p>
            <a:pPr lvl="1"/>
            <a:r>
              <a:rPr lang="en-US" dirty="0" err="1">
                <a:solidFill>
                  <a:srgbClr val="FF0000"/>
                </a:solidFill>
              </a:rPr>
              <a:t>plot_model_fit_simple</a:t>
            </a:r>
            <a:r>
              <a:rPr lang="en-US" dirty="0">
                <a:solidFill>
                  <a:srgbClr val="FF0000"/>
                </a:solidFill>
              </a:rPr>
              <a:t>()</a:t>
            </a:r>
          </a:p>
          <a:p>
            <a:pPr lvl="1"/>
            <a:r>
              <a:rPr lang="en-US" dirty="0" err="1">
                <a:solidFill>
                  <a:srgbClr val="FF0000"/>
                </a:solidFill>
              </a:rPr>
              <a:t>plot_forecasts_simple</a:t>
            </a:r>
            <a:r>
              <a:rPr lang="en-US" dirty="0">
                <a:solidFill>
                  <a:srgbClr val="FF0000"/>
                </a:solidFill>
              </a:rPr>
              <a:t>()</a:t>
            </a:r>
          </a:p>
          <a:p>
            <a:pPr lvl="1"/>
            <a:r>
              <a:rPr lang="en-US" dirty="0" err="1">
                <a:solidFill>
                  <a:srgbClr val="FF0000"/>
                </a:solidFill>
              </a:rPr>
              <a:t>run_jcf_sweep</a:t>
            </a:r>
            <a:r>
              <a:rPr lang="en-US" dirty="0">
                <a:solidFill>
                  <a:srgbClr val="FF0000"/>
                </a:solidFill>
              </a:rPr>
              <a:t>()</a:t>
            </a:r>
          </a:p>
          <a:p>
            <a:pPr lvl="1"/>
            <a:r>
              <a:rPr lang="en-US" dirty="0" err="1">
                <a:solidFill>
                  <a:srgbClr val="FF0000"/>
                </a:solidFill>
              </a:rPr>
              <a:t>compare_ensembles_jcf</a:t>
            </a:r>
            <a:r>
              <a:rPr lang="en-US" dirty="0">
                <a:solidFill>
                  <a:srgbClr val="FF0000"/>
                </a:solidFill>
              </a:rPr>
              <a:t>()</a:t>
            </a:r>
          </a:p>
          <a:p>
            <a:pPr lvl="1"/>
            <a:r>
              <a:rPr lang="en-US" dirty="0" err="1">
                <a:solidFill>
                  <a:srgbClr val="FF0000"/>
                </a:solidFill>
              </a:rPr>
              <a:t>plot_forecasts_jcf</a:t>
            </a:r>
            <a:r>
              <a:rPr lang="en-US" dirty="0">
                <a:solidFill>
                  <a:srgbClr val="FF0000"/>
                </a:solidFill>
              </a:rPr>
              <a:t>()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77232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8E4645-7701-C0E3-62CE-D78D9C81F0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Optional (making editable plots)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5BED35-BE65-9637-4615-6C45E9D53F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dirty="0"/>
              <a:t>%Using built in plot editor of </a:t>
            </a:r>
            <a:r>
              <a:rPr lang="en-US" dirty="0" err="1"/>
              <a:t>matlab</a:t>
            </a:r>
            <a:r>
              <a:rPr lang="en-US" dirty="0"/>
              <a:t> to edit the .fig files</a:t>
            </a:r>
          </a:p>
          <a:p>
            <a:pPr marL="0" indent="0">
              <a:buNone/>
            </a:pPr>
            <a:r>
              <a:rPr lang="en-US" dirty="0" err="1"/>
              <a:t>fig_files</a:t>
            </a:r>
            <a:r>
              <a:rPr lang="en-US" dirty="0"/>
              <a:t> = </a:t>
            </a:r>
            <a:r>
              <a:rPr lang="en-US" dirty="0" err="1"/>
              <a:t>dir</a:t>
            </a:r>
            <a:r>
              <a:rPr lang="en-US" dirty="0"/>
              <a:t>('</a:t>
            </a:r>
            <a:r>
              <a:rPr lang="en-US" dirty="0" err="1"/>
              <a:t>foldername</a:t>
            </a:r>
            <a:r>
              <a:rPr lang="en-US" dirty="0"/>
              <a:t>/*.fig');</a:t>
            </a:r>
          </a:p>
          <a:p>
            <a:pPr marL="0" indent="0">
              <a:buNone/>
            </a:pPr>
            <a:r>
              <a:rPr lang="en-US" dirty="0"/>
              <a:t> </a:t>
            </a:r>
          </a:p>
          <a:p>
            <a:pPr marL="0" indent="0">
              <a:buNone/>
            </a:pPr>
            <a:r>
              <a:rPr lang="en-US" dirty="0"/>
              <a:t>for </a:t>
            </a:r>
            <a:r>
              <a:rPr lang="en-US" dirty="0" err="1"/>
              <a:t>i</a:t>
            </a:r>
            <a:r>
              <a:rPr lang="en-US" dirty="0"/>
              <a:t> = 1:length(</a:t>
            </a:r>
            <a:r>
              <a:rPr lang="en-US" dirty="0" err="1"/>
              <a:t>fig_files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dirty="0"/>
              <a:t>    </a:t>
            </a:r>
            <a:r>
              <a:rPr lang="en-US" dirty="0" err="1"/>
              <a:t>filepath</a:t>
            </a:r>
            <a:r>
              <a:rPr lang="en-US" dirty="0"/>
              <a:t> = </a:t>
            </a:r>
            <a:r>
              <a:rPr lang="en-US" dirty="0" err="1"/>
              <a:t>fullfile</a:t>
            </a:r>
            <a:r>
              <a:rPr lang="en-US" dirty="0"/>
              <a:t>(</a:t>
            </a:r>
            <a:r>
              <a:rPr lang="en-US" dirty="0" err="1"/>
              <a:t>fig_files</a:t>
            </a: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).folder, </a:t>
            </a:r>
            <a:r>
              <a:rPr lang="en-US" dirty="0" err="1"/>
              <a:t>fig_files</a:t>
            </a: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).name);</a:t>
            </a:r>
          </a:p>
          <a:p>
            <a:pPr marL="0" indent="0">
              <a:buNone/>
            </a:pPr>
            <a:r>
              <a:rPr lang="en-US" dirty="0"/>
              <a:t>    </a:t>
            </a:r>
          </a:p>
          <a:p>
            <a:pPr marL="0" indent="0">
              <a:buNone/>
            </a:pPr>
            <a:r>
              <a:rPr lang="en-US" dirty="0"/>
              <a:t>    fig = </a:t>
            </a:r>
            <a:r>
              <a:rPr lang="en-US" dirty="0" err="1"/>
              <a:t>openfig</a:t>
            </a:r>
            <a:r>
              <a:rPr lang="en-US" dirty="0"/>
              <a:t>(</a:t>
            </a:r>
            <a:r>
              <a:rPr lang="en-US" dirty="0" err="1"/>
              <a:t>filepath</a:t>
            </a:r>
            <a:r>
              <a:rPr lang="en-US" dirty="0"/>
              <a:t>, 'invisible');</a:t>
            </a:r>
          </a:p>
          <a:p>
            <a:pPr marL="0" indent="0">
              <a:buNone/>
            </a:pPr>
            <a:r>
              <a:rPr lang="en-US" dirty="0"/>
              <a:t>    set(fig, 'Visible', 'on');</a:t>
            </a:r>
          </a:p>
          <a:p>
            <a:pPr marL="0" indent="0">
              <a:buNone/>
            </a:pPr>
            <a:r>
              <a:rPr lang="en-US" dirty="0"/>
              <a:t>    </a:t>
            </a:r>
            <a:r>
              <a:rPr lang="en-US" dirty="0" err="1"/>
              <a:t>drawnow</a:t>
            </a:r>
            <a:r>
              <a:rPr lang="en-US" dirty="0"/>
              <a:t>;</a:t>
            </a:r>
          </a:p>
          <a:p>
            <a:pPr marL="0" indent="0">
              <a:buNone/>
            </a:pPr>
            <a:r>
              <a:rPr lang="en-US" dirty="0"/>
              <a:t>    </a:t>
            </a:r>
          </a:p>
          <a:p>
            <a:pPr marL="0" indent="0">
              <a:buNone/>
            </a:pPr>
            <a:r>
              <a:rPr lang="en-US" dirty="0"/>
              <a:t>    </a:t>
            </a:r>
            <a:r>
              <a:rPr lang="en-US" dirty="0" err="1"/>
              <a:t>saveas</a:t>
            </a:r>
            <a:r>
              <a:rPr lang="en-US" dirty="0"/>
              <a:t>(fig, </a:t>
            </a:r>
            <a:r>
              <a:rPr lang="en-US" dirty="0" err="1"/>
              <a:t>filepath</a:t>
            </a:r>
            <a:r>
              <a:rPr lang="en-US" dirty="0"/>
              <a:t>);  % Overwrite with corrected visibility</a:t>
            </a:r>
          </a:p>
          <a:p>
            <a:pPr marL="0" indent="0">
              <a:buNone/>
            </a:pPr>
            <a:r>
              <a:rPr lang="en-US" dirty="0"/>
              <a:t>    close(fig);</a:t>
            </a:r>
          </a:p>
          <a:p>
            <a:pPr marL="0" indent="0">
              <a:buNone/>
            </a:pPr>
            <a:r>
              <a:rPr lang="en-US" dirty="0"/>
              <a:t>    </a:t>
            </a:r>
          </a:p>
          <a:p>
            <a:pPr marL="0" indent="0">
              <a:buNone/>
            </a:pPr>
            <a:r>
              <a:rPr lang="en-US" dirty="0"/>
              <a:t>    </a:t>
            </a:r>
            <a:r>
              <a:rPr lang="en-US" dirty="0" err="1"/>
              <a:t>fprintf</a:t>
            </a:r>
            <a:r>
              <a:rPr lang="en-US" dirty="0"/>
              <a:t>('Fixed: %s\n', </a:t>
            </a:r>
            <a:r>
              <a:rPr lang="en-US" dirty="0" err="1"/>
              <a:t>fig_files</a:t>
            </a: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).name);</a:t>
            </a:r>
          </a:p>
          <a:p>
            <a:pPr marL="0" indent="0">
              <a:buNone/>
            </a:pPr>
            <a:r>
              <a:rPr lang="en-US" dirty="0"/>
              <a:t>end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93051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</TotalTime>
  <Words>687</Words>
  <Application>Microsoft Office PowerPoint</Application>
  <PresentationFormat>Widescreen</PresentationFormat>
  <Paragraphs>91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Multi-model sequential forecasts and ensembles using QuantDiffForecast</vt:lpstr>
      <vt:lpstr>What we will cover today</vt:lpstr>
      <vt:lpstr>Prerequisites and setup</vt:lpstr>
      <vt:lpstr>Why more than one model</vt:lpstr>
      <vt:lpstr>Revisiting QuantDiffForecast toolbox</vt:lpstr>
      <vt:lpstr>Sequential windows forecasting (e.g. shifting windows by forecast horizon)</vt:lpstr>
      <vt:lpstr>Model performance metrics</vt:lpstr>
      <vt:lpstr>The ensemble and the linear pool</vt:lpstr>
      <vt:lpstr>Calibration-only weighting, and its blind spot</vt:lpstr>
      <vt:lpstr>JCF ensembles and the role of λ</vt:lpstr>
      <vt:lpstr>Practice</vt:lpstr>
      <vt:lpstr>Optional (making editable plots)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Raj Kumar Subedi</dc:creator>
  <cp:lastModifiedBy>Raj Kumar Subedi</cp:lastModifiedBy>
  <cp:revision>9</cp:revision>
  <dcterms:created xsi:type="dcterms:W3CDTF">2026-09-11T09:46:11Z</dcterms:created>
  <dcterms:modified xsi:type="dcterms:W3CDTF">2026-09-11T14:21:54Z</dcterms:modified>
</cp:coreProperties>
</file>